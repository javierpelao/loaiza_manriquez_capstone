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DM Sans" pitchFamily="2" charset="0"/>
      <p:regular r:id="rId15"/>
    </p:embeddedFont>
    <p:embeddedFont>
      <p:font typeface="DM Sans Bold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Open Sauce" panose="020B0604020202020204" charset="0"/>
      <p:regular r:id="rId19"/>
    </p:embeddedFont>
    <p:embeddedFont>
      <p:font typeface="Open Sauce Bold" panose="020B0604020202020204" charset="0"/>
      <p:regular r:id="rId20"/>
    </p:embeddedFont>
    <p:embeddedFont>
      <p:font typeface="Rotis Sans Serif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12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291165" y="3324644"/>
            <a:ext cx="11705670" cy="291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45"/>
              </a:lnSpc>
            </a:pPr>
            <a:r>
              <a:rPr lang="en-US" sz="19145" spc="-631">
                <a:solidFill>
                  <a:srgbClr val="403B32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Proyecto APT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849221" y="2325569"/>
            <a:ext cx="315936" cy="31593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49221" y="2745965"/>
            <a:ext cx="315936" cy="31593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49221" y="3166676"/>
            <a:ext cx="315936" cy="31593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62456" y="2745965"/>
            <a:ext cx="315936" cy="3159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462456" y="3166676"/>
            <a:ext cx="315936" cy="31593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462456" y="2325569"/>
            <a:ext cx="315936" cy="31593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028700" y="1823453"/>
            <a:ext cx="162306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TextBox 24"/>
          <p:cNvSpPr txBox="1"/>
          <p:nvPr/>
        </p:nvSpPr>
        <p:spPr>
          <a:xfrm>
            <a:off x="5388064" y="5406046"/>
            <a:ext cx="7511871" cy="74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Entrenamiento y Nutrición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00973" y="7400308"/>
            <a:ext cx="2886054" cy="172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199" b="1">
                <a:solidFill>
                  <a:srgbClr val="161613"/>
                </a:solidFill>
                <a:latin typeface="Inter Bold"/>
                <a:ea typeface="Inter Bold"/>
                <a:cs typeface="Inter Bold"/>
                <a:sym typeface="Inter Bold"/>
              </a:rPr>
              <a:t>Conformado por</a:t>
            </a:r>
          </a:p>
          <a:p>
            <a:pPr marL="474979" lvl="1" indent="-237490" algn="l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Javier Loaiza</a:t>
            </a:r>
          </a:p>
          <a:p>
            <a:pPr marL="474979" lvl="1" indent="-237490" algn="l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Franco Manríquez</a:t>
            </a:r>
          </a:p>
          <a:p>
            <a:pPr algn="l">
              <a:lnSpc>
                <a:spcPts val="3511"/>
              </a:lnSpc>
            </a:pPr>
            <a:endParaRPr lang="en-US" sz="2199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919569" y="-5155786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081123" y="361663"/>
            <a:ext cx="4125753" cy="155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7"/>
              </a:lnSpc>
            </a:pPr>
            <a:r>
              <a:rPr lang="en-US" sz="11647" spc="-384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Índi</a:t>
            </a:r>
            <a:r>
              <a:rPr lang="en-US" sz="11647" u="none" strike="noStrike" spc="-384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ce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5474958" y="3574838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AutoShape 5"/>
          <p:cNvSpPr/>
          <p:nvPr/>
        </p:nvSpPr>
        <p:spPr>
          <a:xfrm flipV="1">
            <a:off x="5474958" y="4435646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 flipV="1">
            <a:off x="5474958" y="5296455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/>
          <p:cNvSpPr/>
          <p:nvPr/>
        </p:nvSpPr>
        <p:spPr>
          <a:xfrm>
            <a:off x="5474958" y="6157263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" name="AutoShape 8"/>
          <p:cNvSpPr/>
          <p:nvPr/>
        </p:nvSpPr>
        <p:spPr>
          <a:xfrm>
            <a:off x="5474958" y="6936580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136508" y="2949734"/>
            <a:ext cx="5398088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PROBLEMA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4631" y="2949734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17668" y="3811322"/>
            <a:ext cx="3216929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IMPACTO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4631" y="3811322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09969" y="4672911"/>
            <a:ext cx="4624627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ALINEACIÓN Y COMPETENCIAS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4631" y="4672911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0897" y="5528256"/>
            <a:ext cx="5273699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FACTIBILIDAD Y RIESGOS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8318" y="5528256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9947" y="6389845"/>
            <a:ext cx="44946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OBJETIVOS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8318" y="6389845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7160" y="7227092"/>
            <a:ext cx="4727437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METODOLOGIA Y PLANIFICACIÓN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8318" y="7227092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69727" y="1783773"/>
            <a:ext cx="794854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Hablaremos de los siguientes temas de nuestra presentación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474958" y="7849075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8302175" y="8139587"/>
            <a:ext cx="42324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EVIDENCIAS Y REPOSITORIO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8318" y="8139587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07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474958" y="8655410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6" name="AutoShape 26"/>
          <p:cNvSpPr/>
          <p:nvPr/>
        </p:nvSpPr>
        <p:spPr>
          <a:xfrm>
            <a:off x="2505437" y="2451323"/>
            <a:ext cx="13277126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803823" y="3442108"/>
            <a:ext cx="8340177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1787671" y="1265574"/>
            <a:ext cx="4866804" cy="6806719"/>
          </a:xfrm>
          <a:custGeom>
            <a:avLst/>
            <a:gdLst/>
            <a:ahLst/>
            <a:cxnLst/>
            <a:rect l="l" t="t" r="r" b="b"/>
            <a:pathLst>
              <a:path w="4866804" h="6806719">
                <a:moveTo>
                  <a:pt x="0" y="0"/>
                </a:moveTo>
                <a:lnTo>
                  <a:pt x="4866804" y="0"/>
                </a:lnTo>
                <a:lnTo>
                  <a:pt x="4866804" y="6806719"/>
                </a:lnTo>
                <a:lnTo>
                  <a:pt x="0" y="6806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03823" y="2756081"/>
            <a:ext cx="9541876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-159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¿Que problema buscamos resolver con nuestro proyecto?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2904" y="3836885"/>
            <a:ext cx="9108738" cy="388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Nuestro proyecto busca abordar la dificultad que presentan algunas personas para mantener un seguimiento constante de su entrenamiento y alimentación de acuerdo con sus objetivos físicos.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La problemática se sitúa principalmente en el contexto de personas que realizan actividad física, especialmente usuarios de gimnasios y personas interesadas en mejorar su composición corporal, rendimiento físico o hábitos de alimentación.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2904" y="1275099"/>
            <a:ext cx="7917277" cy="135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34"/>
              </a:lnSpc>
            </a:pPr>
            <a:r>
              <a:rPr lang="en-US" sz="10234" spc="-337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Problematica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1073" y="8837037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6"/>
                </a:lnTo>
                <a:lnTo>
                  <a:pt x="0" y="84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>
            <a:off x="-3805786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26137773" y="0"/>
                </a:moveTo>
                <a:lnTo>
                  <a:pt x="0" y="0"/>
                </a:lnTo>
                <a:lnTo>
                  <a:pt x="0" y="10930342"/>
                </a:lnTo>
                <a:lnTo>
                  <a:pt x="26137773" y="10930342"/>
                </a:lnTo>
                <a:lnTo>
                  <a:pt x="26137773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736653" y="1203058"/>
            <a:ext cx="315936" cy="31593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6653" y="1623454"/>
            <a:ext cx="315936" cy="31593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36653" y="2044165"/>
            <a:ext cx="315936" cy="31593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49888" y="1623454"/>
            <a:ext cx="315936" cy="31593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349888" y="2044165"/>
            <a:ext cx="315936" cy="31593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349888" y="1203058"/>
            <a:ext cx="315936" cy="31593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8307936" y="2735128"/>
            <a:ext cx="3931480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2" name="Freeform 22"/>
          <p:cNvSpPr/>
          <p:nvPr/>
        </p:nvSpPr>
        <p:spPr>
          <a:xfrm>
            <a:off x="657439" y="3088266"/>
            <a:ext cx="6966893" cy="4110467"/>
          </a:xfrm>
          <a:custGeom>
            <a:avLst/>
            <a:gdLst/>
            <a:ahLst/>
            <a:cxnLst/>
            <a:rect l="l" t="t" r="r" b="b"/>
            <a:pathLst>
              <a:path w="6966893" h="4110467">
                <a:moveTo>
                  <a:pt x="0" y="0"/>
                </a:moveTo>
                <a:lnTo>
                  <a:pt x="6966893" y="0"/>
                </a:lnTo>
                <a:lnTo>
                  <a:pt x="6966893" y="4110468"/>
                </a:lnTo>
                <a:lnTo>
                  <a:pt x="0" y="4110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TextBox 23"/>
          <p:cNvSpPr txBox="1"/>
          <p:nvPr/>
        </p:nvSpPr>
        <p:spPr>
          <a:xfrm>
            <a:off x="8307936" y="3027680"/>
            <a:ext cx="9170614" cy="623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Nuestra aplicación busca ayudar a las personas a mantener un seguimiento constante de su entrenamiento y alimentación, evitando la frustración asociada a la falta de progreso.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Permitirá crear y registrar rutinas de entrenamiento, almacenar ejercicios, series, repeticiones y cargas, y visualizar el progreso a lo largo del tiempo. Además, mediante Inteligencia Artificial, podrá analizar el progreso y entregar recomendaciones personalizadas cuando el usuario presente estancamiento.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En el área de nutrición, la aplicación permitirá escanear códigos de barras de alimentos para obtener información nutricional mediante la API Open Food Facts, registrarla y facilitar el seguimiento de calorías y macronutrientes. La IA también podrá entregar recomendaciones y sugerencias de alimentos de acuerdo con los objetivos del usuario.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307936" y="1737754"/>
            <a:ext cx="7576954" cy="83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34"/>
              </a:lnSpc>
            </a:pPr>
            <a:r>
              <a:rPr lang="en-US" sz="6234" spc="-20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Impacto</a:t>
            </a:r>
          </a:p>
        </p:txBody>
      </p:sp>
      <p:sp>
        <p:nvSpPr>
          <p:cNvPr id="25" name="Freeform 25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>
            <a:off x="803823" y="3321188"/>
            <a:ext cx="13259470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803823" y="3459301"/>
            <a:ext cx="13259470" cy="7384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El proyecto se encuentra alineado con el perfil de egreso de Ingeniería en Informática y con las demandas del mercado actual, ya que integra distintas áreas de la carrera para desarrollar una solución tecnológica completa.</a:t>
            </a:r>
          </a:p>
          <a:p>
            <a:pPr algn="just">
              <a:lnSpc>
                <a:spcPts val="3060"/>
              </a:lnSpc>
            </a:pPr>
            <a:endParaRPr lang="en-US" sz="2186" spc="-124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60"/>
              </a:lnSpc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Competencias aplicadas:</a:t>
            </a:r>
          </a:p>
          <a:p>
            <a:pPr algn="just">
              <a:lnSpc>
                <a:spcPts val="3060"/>
              </a:lnSpc>
            </a:pPr>
            <a:endParaRPr lang="en-US" sz="2186" spc="-124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Diseño y Gestion de requisitos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Gestion de Proyectos Informaticos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Desarrollo de software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Bases de datos: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Plataformas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Análisis de datos e Inteligencia Artificial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Arquitectura de sistemas</a:t>
            </a:r>
          </a:p>
          <a:p>
            <a:pPr marL="471990" lvl="1" indent="-235995" algn="just">
              <a:lnSpc>
                <a:spcPts val="4109"/>
              </a:lnSpc>
              <a:buFont typeface="Arial"/>
              <a:buChar char="•"/>
            </a:pPr>
            <a:r>
              <a:rPr lang="en-US" sz="2186" spc="-124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Calidad Software</a:t>
            </a:r>
          </a:p>
          <a:p>
            <a:pPr algn="just">
              <a:lnSpc>
                <a:spcPts val="4109"/>
              </a:lnSpc>
            </a:pPr>
            <a:endParaRPr lang="en-US" sz="2186" spc="-124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60"/>
              </a:lnSpc>
            </a:pPr>
            <a:endParaRPr lang="en-US" sz="2186" spc="-124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60"/>
              </a:lnSpc>
            </a:pPr>
            <a:endParaRPr lang="en-US" sz="2186" spc="-124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4063293" y="359905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2044906" y="5438828"/>
            <a:ext cx="1793479" cy="1858528"/>
          </a:xfrm>
          <a:custGeom>
            <a:avLst/>
            <a:gdLst/>
            <a:ahLst/>
            <a:cxnLst/>
            <a:rect l="l" t="t" r="r" b="b"/>
            <a:pathLst>
              <a:path w="1793479" h="1858528">
                <a:moveTo>
                  <a:pt x="0" y="0"/>
                </a:moveTo>
                <a:lnTo>
                  <a:pt x="1793479" y="0"/>
                </a:lnTo>
                <a:lnTo>
                  <a:pt x="1793479" y="1858527"/>
                </a:lnTo>
                <a:lnTo>
                  <a:pt x="0" y="18585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0152871" y="5612531"/>
            <a:ext cx="1334715" cy="1561070"/>
          </a:xfrm>
          <a:custGeom>
            <a:avLst/>
            <a:gdLst/>
            <a:ahLst/>
            <a:cxnLst/>
            <a:rect l="l" t="t" r="r" b="b"/>
            <a:pathLst>
              <a:path w="1334715" h="1561070">
                <a:moveTo>
                  <a:pt x="0" y="0"/>
                </a:moveTo>
                <a:lnTo>
                  <a:pt x="1334716" y="0"/>
                </a:lnTo>
                <a:lnTo>
                  <a:pt x="1334716" y="1561071"/>
                </a:lnTo>
                <a:lnTo>
                  <a:pt x="0" y="1561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272892" y="5425314"/>
            <a:ext cx="1903562" cy="2080396"/>
          </a:xfrm>
          <a:custGeom>
            <a:avLst/>
            <a:gdLst/>
            <a:ahLst/>
            <a:cxnLst/>
            <a:rect l="l" t="t" r="r" b="b"/>
            <a:pathLst>
              <a:path w="1903562" h="2080396">
                <a:moveTo>
                  <a:pt x="0" y="0"/>
                </a:moveTo>
                <a:lnTo>
                  <a:pt x="1903563" y="0"/>
                </a:lnTo>
                <a:lnTo>
                  <a:pt x="1903563" y="2080396"/>
                </a:lnTo>
                <a:lnTo>
                  <a:pt x="0" y="2080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8012623" y="5068277"/>
            <a:ext cx="1717049" cy="2352122"/>
          </a:xfrm>
          <a:custGeom>
            <a:avLst/>
            <a:gdLst/>
            <a:ahLst/>
            <a:cxnLst/>
            <a:rect l="l" t="t" r="r" b="b"/>
            <a:pathLst>
              <a:path w="1717049" h="2352122">
                <a:moveTo>
                  <a:pt x="0" y="0"/>
                </a:moveTo>
                <a:lnTo>
                  <a:pt x="1717050" y="0"/>
                </a:lnTo>
                <a:lnTo>
                  <a:pt x="1717050" y="2352122"/>
                </a:lnTo>
                <a:lnTo>
                  <a:pt x="0" y="2352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066402" y="7505710"/>
            <a:ext cx="2204516" cy="1752590"/>
          </a:xfrm>
          <a:custGeom>
            <a:avLst/>
            <a:gdLst/>
            <a:ahLst/>
            <a:cxnLst/>
            <a:rect l="l" t="t" r="r" b="b"/>
            <a:pathLst>
              <a:path w="2204516" h="1752590">
                <a:moveTo>
                  <a:pt x="0" y="0"/>
                </a:moveTo>
                <a:lnTo>
                  <a:pt x="2204516" y="0"/>
                </a:lnTo>
                <a:lnTo>
                  <a:pt x="2204516" y="1752590"/>
                </a:lnTo>
                <a:lnTo>
                  <a:pt x="0" y="1752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803823" y="2657476"/>
            <a:ext cx="15198177" cy="45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¿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Qué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competencias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del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perfil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egreso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aplicamos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cómo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se </a:t>
            </a:r>
            <a:r>
              <a:rPr lang="en-US" sz="2799" spc="-159" dirty="0" err="1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relacionan</a:t>
            </a:r>
            <a:r>
              <a:rPr lang="en-US" sz="2799" spc="-159" dirty="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con el mercado actual?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3823" y="782248"/>
            <a:ext cx="5828933" cy="177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4"/>
              </a:lnSpc>
            </a:pPr>
            <a:r>
              <a:rPr lang="en-US" sz="6834" spc="-22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Alineación y competencias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715300" y="-622760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2421502"/>
          <a:ext cx="11475559" cy="4562475"/>
        </p:xfrm>
        <a:graphic>
          <a:graphicData uri="http://schemas.openxmlformats.org/drawingml/2006/table">
            <a:tbl>
              <a:tblPr/>
              <a:tblGrid>
                <a:gridCol w="566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4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18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Riesgos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Mitigación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2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Alcance y tiempo de desarrollo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Priorización de funcionalidades esenciales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920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Integración entre app, backend, BD, API e 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Integraciones parciales + pruebas progresivas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775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Dependencia de servicios externos e 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Validación temprana + alternativas técnicas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4221073" y="8837037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6"/>
                </a:lnTo>
                <a:lnTo>
                  <a:pt x="0" y="84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133473" y="904835"/>
            <a:ext cx="9711707" cy="90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4"/>
              </a:lnSpc>
            </a:pPr>
            <a:r>
              <a:rPr lang="en-US" sz="6834" spc="-22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Factibilidad y Riesgos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8702" y="1816631"/>
            <a:ext cx="9191653" cy="4762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370471" y="3257296"/>
            <a:ext cx="4100549" cy="2890887"/>
          </a:xfrm>
          <a:custGeom>
            <a:avLst/>
            <a:gdLst/>
            <a:ahLst/>
            <a:cxnLst/>
            <a:rect l="l" t="t" r="r" b="b"/>
            <a:pathLst>
              <a:path w="4100549" h="2890887">
                <a:moveTo>
                  <a:pt x="0" y="0"/>
                </a:moveTo>
                <a:lnTo>
                  <a:pt x="4100548" y="0"/>
                </a:lnTo>
                <a:lnTo>
                  <a:pt x="4100548" y="2890887"/>
                </a:lnTo>
                <a:lnTo>
                  <a:pt x="0" y="2890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1028700" y="7376357"/>
            <a:ext cx="11955066" cy="216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Factibilidad: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• Proyecto planificado en 16 semanas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• Trabajo dividido entre 2 integrantes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• Desarrollo paralelo de app móvil, backend y BD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• Uso de herramientas y servicios disponibles: GitHub, IDE, BD y Open Food 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715300" y="-622760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284762" y="5934026"/>
          <a:ext cx="10932984" cy="3696588"/>
        </p:xfrm>
        <a:graphic>
          <a:graphicData uri="http://schemas.openxmlformats.org/drawingml/2006/table">
            <a:tbl>
              <a:tblPr/>
              <a:tblGrid>
                <a:gridCol w="364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29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01 — ANALIZAR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Requerimientos, necesidades de usuarios y alcance.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03 — DESARROLLAR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Aplicación móvil, backend y funcionalidades principales.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02 — DISEÑAR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Arquitectura, modelo de datos e interfaces.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829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04 — INTEGRAR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Base de datos, Open Food Facts y servicios externos.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06 — VALIDAR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Realizar pruebas funcionales y de integración.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05 — IMPLEMENTAR IA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Analizar progreso y generar recomendaciones personalizadas.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6405414" y="2106883"/>
            <a:ext cx="555798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</a:t>
            </a:r>
            <a:r>
              <a:rPr lang="en-US" sz="5199" b="1" dirty="0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General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7988" y="3069772"/>
            <a:ext cx="1764428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Desarrollar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aplicación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móvil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de fitness y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nutrición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seguimiento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personalizado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análisis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e </a:t>
            </a:r>
            <a:r>
              <a:rPr lang="en-US" sz="3399" dirty="0" err="1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Inteligencia</a:t>
            </a:r>
            <a:r>
              <a:rPr lang="en-US" sz="3399" dirty="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Artificial.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81364" y="4827856"/>
            <a:ext cx="696783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</a:t>
            </a:r>
            <a:r>
              <a:rPr lang="en-US" sz="5199" b="1" dirty="0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Especificos</a:t>
            </a:r>
            <a:endParaRPr lang="en-US" sz="5199" b="1" dirty="0">
              <a:solidFill>
                <a:srgbClr val="403B3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4594276" y="716421"/>
            <a:ext cx="9711707" cy="90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34"/>
              </a:lnSpc>
            </a:pPr>
            <a:r>
              <a:rPr lang="en-US" sz="6834" spc="-22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Definición de Objetivos</a:t>
            </a:r>
          </a:p>
        </p:txBody>
      </p:sp>
      <p:sp>
        <p:nvSpPr>
          <p:cNvPr id="9" name="AutoShape 9"/>
          <p:cNvSpPr/>
          <p:nvPr/>
        </p:nvSpPr>
        <p:spPr>
          <a:xfrm>
            <a:off x="4177655" y="1628217"/>
            <a:ext cx="9980053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317571" y="-6689615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33870" y="4459801"/>
          <a:ext cx="3258070" cy="1838325"/>
        </p:xfrm>
        <a:graphic>
          <a:graphicData uri="http://schemas.openxmlformats.org/drawingml/2006/table">
            <a:tbl>
              <a:tblPr/>
              <a:tblGrid>
                <a:gridCol w="325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3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CASCADA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Estructura General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Etapas Definidas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Entregables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63087" y="7290120"/>
          <a:ext cx="3328853" cy="1838325"/>
        </p:xfrm>
        <a:graphic>
          <a:graphicData uri="http://schemas.openxmlformats.org/drawingml/2006/table">
            <a:tbl>
              <a:tblPr/>
              <a:tblGrid>
                <a:gridCol w="3328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3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KANBAN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Gestion de Tareas 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Control del Avance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Trabajo Paralelo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1396521" y="5496556"/>
          <a:ext cx="2351155" cy="1838325"/>
        </p:xfrm>
        <a:graphic>
          <a:graphicData uri="http://schemas.openxmlformats.org/drawingml/2006/table">
            <a:tbl>
              <a:tblPr/>
              <a:tblGrid>
                <a:gridCol w="235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3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JAVIER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 Movil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Interfaces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Navegacion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5118930" y="5496556"/>
          <a:ext cx="1854984" cy="2072069"/>
        </p:xfrm>
        <a:graphic>
          <a:graphicData uri="http://schemas.openxmlformats.org/drawingml/2006/table">
            <a:tbl>
              <a:tblPr/>
              <a:tblGrid>
                <a:gridCol w="185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3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FRANCO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Backend + BD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Datos + IA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Servicios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2764066" y="7995190"/>
          <a:ext cx="3258070" cy="1838325"/>
        </p:xfrm>
        <a:graphic>
          <a:graphicData uri="http://schemas.openxmlformats.org/drawingml/2006/table">
            <a:tbl>
              <a:tblPr/>
              <a:tblGrid>
                <a:gridCol w="325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3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AMBOS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Integración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Pruebas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Documentación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2439151" y="6531638"/>
            <a:ext cx="471799" cy="471799"/>
          </a:xfrm>
          <a:custGeom>
            <a:avLst/>
            <a:gdLst/>
            <a:ahLst/>
            <a:cxnLst/>
            <a:rect l="l" t="t" r="r" b="b"/>
            <a:pathLst>
              <a:path w="471799" h="471799">
                <a:moveTo>
                  <a:pt x="0" y="0"/>
                </a:moveTo>
                <a:lnTo>
                  <a:pt x="471799" y="0"/>
                </a:lnTo>
                <a:lnTo>
                  <a:pt x="471799" y="471799"/>
                </a:lnTo>
                <a:lnTo>
                  <a:pt x="0" y="47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AutoShape 9"/>
          <p:cNvSpPr/>
          <p:nvPr/>
        </p:nvSpPr>
        <p:spPr>
          <a:xfrm>
            <a:off x="863087" y="3007263"/>
            <a:ext cx="16631858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>
            <a:off x="10779715" y="3007263"/>
            <a:ext cx="0" cy="7012279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4047358" y="6183879"/>
            <a:ext cx="827997" cy="231839"/>
          </a:xfrm>
          <a:custGeom>
            <a:avLst/>
            <a:gdLst/>
            <a:ahLst/>
            <a:cxnLst/>
            <a:rect l="l" t="t" r="r" b="b"/>
            <a:pathLst>
              <a:path w="827997" h="231839">
                <a:moveTo>
                  <a:pt x="0" y="0"/>
                </a:moveTo>
                <a:lnTo>
                  <a:pt x="827998" y="0"/>
                </a:lnTo>
                <a:lnTo>
                  <a:pt x="827998" y="231840"/>
                </a:lnTo>
                <a:lnTo>
                  <a:pt x="0" y="231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 flipH="1">
            <a:off x="14047358" y="6415719"/>
            <a:ext cx="827997" cy="231839"/>
          </a:xfrm>
          <a:custGeom>
            <a:avLst/>
            <a:gdLst/>
            <a:ahLst/>
            <a:cxnLst/>
            <a:rect l="l" t="t" r="r" b="b"/>
            <a:pathLst>
              <a:path w="827997" h="231839">
                <a:moveTo>
                  <a:pt x="827998" y="0"/>
                </a:moveTo>
                <a:lnTo>
                  <a:pt x="0" y="0"/>
                </a:lnTo>
                <a:lnTo>
                  <a:pt x="0" y="231839"/>
                </a:lnTo>
                <a:lnTo>
                  <a:pt x="827998" y="231839"/>
                </a:lnTo>
                <a:lnTo>
                  <a:pt x="8279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958369" y="5010768"/>
            <a:ext cx="951345" cy="951345"/>
          </a:xfrm>
          <a:custGeom>
            <a:avLst/>
            <a:gdLst/>
            <a:ahLst/>
            <a:cxnLst/>
            <a:rect l="l" t="t" r="r" b="b"/>
            <a:pathLst>
              <a:path w="951345" h="951345">
                <a:moveTo>
                  <a:pt x="0" y="0"/>
                </a:moveTo>
                <a:lnTo>
                  <a:pt x="951345" y="0"/>
                </a:lnTo>
                <a:lnTo>
                  <a:pt x="951345" y="951345"/>
                </a:lnTo>
                <a:lnTo>
                  <a:pt x="0" y="9513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9144000" y="7748437"/>
            <a:ext cx="1478552" cy="831686"/>
          </a:xfrm>
          <a:custGeom>
            <a:avLst/>
            <a:gdLst/>
            <a:ahLst/>
            <a:cxnLst/>
            <a:rect l="l" t="t" r="r" b="b"/>
            <a:pathLst>
              <a:path w="1478552" h="831686">
                <a:moveTo>
                  <a:pt x="0" y="0"/>
                </a:moveTo>
                <a:lnTo>
                  <a:pt x="1478552" y="0"/>
                </a:lnTo>
                <a:lnTo>
                  <a:pt x="1478552" y="831686"/>
                </a:lnTo>
                <a:lnTo>
                  <a:pt x="0" y="831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6070595" y="1803576"/>
            <a:ext cx="6732382" cy="139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ENFOQUE HÍBRIDO </a:t>
            </a: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403B3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91939" y="4890494"/>
            <a:ext cx="4795469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ANÁLISIS → DISEÑO → DESARROLLO E INTEGRACIÓN → PRUEBAS → CIERRE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03531" y="7790818"/>
            <a:ext cx="483800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 POR HACER │ EN DESARROLLO │ EN REVISIÓN │ TERMINADO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4556" y="1018462"/>
            <a:ext cx="9433261" cy="87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34"/>
              </a:lnSpc>
            </a:pPr>
            <a:r>
              <a:rPr lang="en-US" sz="6534" spc="-21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Metodología de Trabajo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47358" y="5745984"/>
            <a:ext cx="97192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Apoyo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98804" y="3227902"/>
            <a:ext cx="6732382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CASCADA + KANBAN</a:t>
            </a:r>
          </a:p>
        </p:txBody>
      </p:sp>
      <p:sp>
        <p:nvSpPr>
          <p:cNvPr id="21" name="Freeform 21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2668409" y="3283125"/>
            <a:ext cx="3585896" cy="58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5"/>
              </a:lnSpc>
            </a:pPr>
            <a:r>
              <a:rPr lang="en-US" sz="4435" b="1" spc="-146">
                <a:solidFill>
                  <a:srgbClr val="403B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Planificación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30861" y="4091323"/>
            <a:ext cx="7004924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El proyecto tiene una duración de 2 semanas y esta compuesto por solo 2 integrantes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Freeform 24"/>
          <p:cNvSpPr/>
          <p:nvPr/>
        </p:nvSpPr>
        <p:spPr>
          <a:xfrm rot="-9069291" flipH="1">
            <a:off x="12768624" y="7578002"/>
            <a:ext cx="827997" cy="231839"/>
          </a:xfrm>
          <a:custGeom>
            <a:avLst/>
            <a:gdLst/>
            <a:ahLst/>
            <a:cxnLst/>
            <a:rect l="l" t="t" r="r" b="b"/>
            <a:pathLst>
              <a:path w="827997" h="231839">
                <a:moveTo>
                  <a:pt x="827998" y="0"/>
                </a:moveTo>
                <a:lnTo>
                  <a:pt x="0" y="0"/>
                </a:lnTo>
                <a:lnTo>
                  <a:pt x="0" y="231839"/>
                </a:lnTo>
                <a:lnTo>
                  <a:pt x="827998" y="231839"/>
                </a:lnTo>
                <a:lnTo>
                  <a:pt x="8279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 rot="-1956075" flipH="1">
            <a:off x="15116054" y="7578319"/>
            <a:ext cx="858639" cy="240419"/>
          </a:xfrm>
          <a:custGeom>
            <a:avLst/>
            <a:gdLst/>
            <a:ahLst/>
            <a:cxnLst/>
            <a:rect l="l" t="t" r="r" b="b"/>
            <a:pathLst>
              <a:path w="858639" h="240419">
                <a:moveTo>
                  <a:pt x="858639" y="0"/>
                </a:moveTo>
                <a:lnTo>
                  <a:pt x="0" y="0"/>
                </a:lnTo>
                <a:lnTo>
                  <a:pt x="0" y="240419"/>
                </a:lnTo>
                <a:lnTo>
                  <a:pt x="858639" y="240419"/>
                </a:lnTo>
                <a:lnTo>
                  <a:pt x="8586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AutoShape 26"/>
          <p:cNvSpPr/>
          <p:nvPr/>
        </p:nvSpPr>
        <p:spPr>
          <a:xfrm flipV="1">
            <a:off x="3433306" y="3921639"/>
            <a:ext cx="5554102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7" name="AutoShape 27"/>
          <p:cNvSpPr/>
          <p:nvPr/>
        </p:nvSpPr>
        <p:spPr>
          <a:xfrm>
            <a:off x="12466582" y="3872025"/>
            <a:ext cx="3914665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317571" y="-6689615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814556" y="78792"/>
            <a:ext cx="13246161" cy="10129417"/>
          </a:xfrm>
          <a:custGeom>
            <a:avLst/>
            <a:gdLst/>
            <a:ahLst/>
            <a:cxnLst/>
            <a:rect l="l" t="t" r="r" b="b"/>
            <a:pathLst>
              <a:path w="13246161" h="10129417">
                <a:moveTo>
                  <a:pt x="0" y="0"/>
                </a:moveTo>
                <a:lnTo>
                  <a:pt x="13246161" y="0"/>
                </a:lnTo>
                <a:lnTo>
                  <a:pt x="13246161" y="10129416"/>
                </a:lnTo>
                <a:lnTo>
                  <a:pt x="0" y="10129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30346" y="4765231"/>
            <a:ext cx="4560457" cy="87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34"/>
              </a:lnSpc>
            </a:pPr>
            <a:r>
              <a:rPr lang="en-US" sz="6534" spc="-215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Carta Gantt</a:t>
            </a:r>
          </a:p>
        </p:txBody>
      </p:sp>
      <p:sp>
        <p:nvSpPr>
          <p:cNvPr id="6" name="AutoShape 6"/>
          <p:cNvSpPr/>
          <p:nvPr/>
        </p:nvSpPr>
        <p:spPr>
          <a:xfrm>
            <a:off x="130346" y="5640832"/>
            <a:ext cx="4396197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858031" y="659738"/>
            <a:ext cx="14571939" cy="87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30"/>
              </a:lnSpc>
            </a:pPr>
            <a:r>
              <a:rPr lang="en-US" sz="6530" b="1" spc="-215">
                <a:solidFill>
                  <a:srgbClr val="403B3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Del Proyecto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55938" y="1556779"/>
            <a:ext cx="113761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03B32"/>
                </a:solidFill>
                <a:latin typeface="Canva Sans"/>
                <a:ea typeface="Canva Sans"/>
                <a:cs typeface="Canva Sans"/>
                <a:sym typeface="Canva Sans"/>
              </a:rPr>
              <a:t>¿Cómo demostraremos el cumplimiento de las metas?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7930" y="2733688"/>
            <a:ext cx="2992469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EVIDENCIAS DE AVANCE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088423" y="3380753"/>
          <a:ext cx="2841308" cy="2505075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507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DOCUMENTACIÓN TÉCNICA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Requerimientos  Arquitectura  Modelo de datos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827931" y="3380753"/>
          <a:ext cx="2841308" cy="2505075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507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PROTOTIPO NAVEGABLE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Interfaces  Navegación 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Flujos principales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977221" y="6705173"/>
            <a:ext cx="2692018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403B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EVIDENCIAS FINALES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088423" y="7244327"/>
          <a:ext cx="2841308" cy="2838450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84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APLICACIÓN FUNCIONAL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Entrenamiento  Nutrición  Seguimiento 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IA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837716" y="7244327"/>
          <a:ext cx="2841308" cy="2829871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987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DEMOSTRACIÓN / VIDEO DEMO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Funcionamiento de las principales funcionalidades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1497774" y="7244327"/>
          <a:ext cx="2841308" cy="2829871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987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PRUEBAS Y RESULTADOS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Pruebas funcionales Integración  Validación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4045649" y="1514231"/>
            <a:ext cx="9925755" cy="16219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1637280" y="3389332"/>
          <a:ext cx="2841308" cy="2496496"/>
        </p:xfrm>
        <a:graphic>
          <a:graphicData uri="http://schemas.openxmlformats.org/drawingml/2006/table">
            <a:tbl>
              <a:tblPr/>
              <a:tblGrid>
                <a:gridCol w="284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649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VIDEO DEMO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Funcionales y no funcionales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3241027" y="6262066"/>
            <a:ext cx="1236466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4832062" y="9231672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6"/>
                </a:lnTo>
                <a:lnTo>
                  <a:pt x="0" y="842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6432238" y="1597151"/>
            <a:ext cx="4968165" cy="4763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7486758" y="5821017"/>
            <a:ext cx="3913645" cy="3913645"/>
          </a:xfrm>
          <a:custGeom>
            <a:avLst/>
            <a:gdLst/>
            <a:ahLst/>
            <a:cxnLst/>
            <a:rect l="l" t="t" r="r" b="b"/>
            <a:pathLst>
              <a:path w="3913645" h="3913645">
                <a:moveTo>
                  <a:pt x="0" y="0"/>
                </a:moveTo>
                <a:lnTo>
                  <a:pt x="3913645" y="0"/>
                </a:lnTo>
                <a:lnTo>
                  <a:pt x="3913645" y="3913646"/>
                </a:lnTo>
                <a:lnTo>
                  <a:pt x="0" y="3913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6432234" y="603124"/>
            <a:ext cx="5488610" cy="100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34"/>
              </a:lnSpc>
            </a:pPr>
            <a:r>
              <a:rPr lang="en-US" sz="7634" spc="-251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304" y="2043594"/>
            <a:ext cx="16704124" cy="417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spc="-136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El proyecto propone una solución tecnológica que integra entrenamiento, nutrición y análisis personalizado en una sola aplicación móvil.</a:t>
            </a:r>
          </a:p>
          <a:p>
            <a:pPr algn="just">
              <a:lnSpc>
                <a:spcPts val="3359"/>
              </a:lnSpc>
            </a:pPr>
            <a:endParaRPr lang="en-US" sz="2399" spc="-136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359"/>
              </a:lnSpc>
            </a:pPr>
            <a:r>
              <a:rPr lang="en-US" sz="2399" spc="-136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 través del uso de desarrollo de software, bases de datos, APIs e Inteligencia Artificial, buscamos facilitar el seguimiento de los hábitos y el progreso de cada usuario.</a:t>
            </a:r>
          </a:p>
          <a:p>
            <a:pPr algn="just">
              <a:lnSpc>
                <a:spcPts val="3359"/>
              </a:lnSpc>
            </a:pPr>
            <a:endParaRPr lang="en-US" sz="2399" spc="-136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359"/>
              </a:lnSpc>
            </a:pPr>
            <a:r>
              <a:rPr lang="en-US" sz="2399" spc="-136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Además, el proyecto nos permitirá aplicar e integrar las competencias adquiridas durante la carrera, desarrollando una solución funcional y escalable.</a:t>
            </a:r>
          </a:p>
          <a:p>
            <a:pPr algn="just">
              <a:lnSpc>
                <a:spcPts val="3359"/>
              </a:lnSpc>
            </a:pPr>
            <a:endParaRPr lang="en-US" sz="2399" spc="-136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359"/>
              </a:lnSpc>
            </a:pPr>
            <a:endParaRPr lang="en-US" sz="2399" spc="-136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Office PowerPoint</Application>
  <PresentationFormat>Personalizado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Inter Bold</vt:lpstr>
      <vt:lpstr>Inter</vt:lpstr>
      <vt:lpstr>Open Sauce</vt:lpstr>
      <vt:lpstr>DM Sans Bold</vt:lpstr>
      <vt:lpstr>Canva Sans</vt:lpstr>
      <vt:lpstr>Calibri</vt:lpstr>
      <vt:lpstr>Canva Sans Bold</vt:lpstr>
      <vt:lpstr>DM Sans</vt:lpstr>
      <vt:lpstr>Open Sauce Bold</vt:lpstr>
      <vt:lpstr>Rotis Sans 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Proyecto de Negocios Minimalista Moderno Negro y Blanco</dc:title>
  <cp:lastModifiedBy>FRANCO NICOLAS MANRIQUEZ FUENTEALBA</cp:lastModifiedBy>
  <cp:revision>2</cp:revision>
  <dcterms:created xsi:type="dcterms:W3CDTF">2006-08-16T00:00:00Z</dcterms:created>
  <dcterms:modified xsi:type="dcterms:W3CDTF">2026-09-11T08:13:19Z</dcterms:modified>
  <dc:identifier>DAHU2bv_dgM</dc:identifier>
</cp:coreProperties>
</file>