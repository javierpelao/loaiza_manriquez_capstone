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rimo" panose="020B0604020202020204" charset="0"/>
      <p:regular r:id="rId10"/>
    </p:embeddedFont>
    <p:embeddedFont>
      <p:font typeface="Arimo Bold" panose="020B0604020202020204" charset="0"/>
      <p:regular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DM Sans" panose="020B0604020202020204" charset="0"/>
      <p:regular r:id="rId16"/>
    </p:embeddedFont>
    <p:embeddedFont>
      <p:font typeface="Inter" panose="020B0604020202020204" charset="0"/>
      <p:regular r:id="rId17"/>
    </p:embeddedFont>
    <p:embeddedFont>
      <p:font typeface="Inter Bold" panose="020B0604020202020204" charset="0"/>
      <p:regular r:id="rId18"/>
    </p:embeddedFont>
    <p:embeddedFont>
      <p:font typeface="Open Sauce" panose="020B0604020202020204" charset="0"/>
      <p:regular r:id="rId19"/>
    </p:embeddedFont>
    <p:embeddedFont>
      <p:font typeface="Open Sauce Bold" panose="020B0604020202020204" charset="0"/>
      <p:regular r:id="rId20"/>
    </p:embeddedFont>
    <p:embeddedFont>
      <p:font typeface="Rotis Sans Serif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84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09.10.2026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hyperlink" Target="https://www.figma.com/design/k4bgudz3apnP9CwsDBgqMs/Capstone-Fitness-App-%E2%80%94-Mockup?node-id=16-2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6636653" y="-5465171"/>
            <a:ext cx="26137772" cy="10930341"/>
          </a:xfrm>
          <a:custGeom>
            <a:avLst/>
            <a:gdLst/>
            <a:ahLst/>
            <a:cxnLst/>
            <a:rect l="l" t="t" r="r" b="b"/>
            <a:pathLst>
              <a:path w="26137772" h="10930341">
                <a:moveTo>
                  <a:pt x="0" y="0"/>
                </a:moveTo>
                <a:lnTo>
                  <a:pt x="26137773" y="0"/>
                </a:lnTo>
                <a:lnTo>
                  <a:pt x="26137773" y="10930342"/>
                </a:lnTo>
                <a:lnTo>
                  <a:pt x="0" y="10930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414919" y="3625640"/>
            <a:ext cx="11705670" cy="1839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047"/>
              </a:lnSpc>
            </a:pPr>
            <a:r>
              <a:rPr lang="en-US" sz="12047" spc="-397">
                <a:solidFill>
                  <a:srgbClr val="403B32"/>
                </a:solidFill>
                <a:latin typeface="Rotis Sans Serif"/>
                <a:ea typeface="Rotis Sans Serif"/>
                <a:cs typeface="Rotis Sans Serif"/>
                <a:sym typeface="Rotis Sans Serif"/>
              </a:rPr>
              <a:t>Avance Proyecto APT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5849221" y="2325569"/>
            <a:ext cx="315936" cy="31593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849221" y="2745965"/>
            <a:ext cx="315936" cy="31593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849221" y="3166676"/>
            <a:ext cx="315936" cy="315936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462456" y="2745965"/>
            <a:ext cx="315936" cy="31593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462456" y="3166676"/>
            <a:ext cx="315936" cy="315936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462456" y="2325569"/>
            <a:ext cx="315936" cy="315936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AutoShape 22"/>
          <p:cNvSpPr/>
          <p:nvPr/>
        </p:nvSpPr>
        <p:spPr>
          <a:xfrm>
            <a:off x="1028700" y="1823453"/>
            <a:ext cx="1623060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Freeform 23"/>
          <p:cNvSpPr/>
          <p:nvPr/>
        </p:nvSpPr>
        <p:spPr>
          <a:xfrm>
            <a:off x="487528" y="499771"/>
            <a:ext cx="3427226" cy="842526"/>
          </a:xfrm>
          <a:custGeom>
            <a:avLst/>
            <a:gdLst/>
            <a:ahLst/>
            <a:cxnLst/>
            <a:rect l="l" t="t" r="r" b="b"/>
            <a:pathLst>
              <a:path w="3427226" h="842526">
                <a:moveTo>
                  <a:pt x="0" y="0"/>
                </a:moveTo>
                <a:lnTo>
                  <a:pt x="3427226" y="0"/>
                </a:lnTo>
                <a:lnTo>
                  <a:pt x="3427226" y="842527"/>
                </a:lnTo>
                <a:lnTo>
                  <a:pt x="0" y="8425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6950456" y="5084513"/>
            <a:ext cx="4634596" cy="742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Up Up Progress!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700973" y="7400308"/>
            <a:ext cx="2886054" cy="1727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199" b="1">
                <a:solidFill>
                  <a:srgbClr val="161613"/>
                </a:solidFill>
                <a:latin typeface="Inter Bold"/>
                <a:ea typeface="Inter Bold"/>
                <a:cs typeface="Inter Bold"/>
                <a:sym typeface="Inter Bold"/>
              </a:rPr>
              <a:t>Conformado por</a:t>
            </a:r>
          </a:p>
          <a:p>
            <a:pPr marL="474979" lvl="1" indent="-237490" algn="l">
              <a:lnSpc>
                <a:spcPts val="3511"/>
              </a:lnSpc>
              <a:buFont typeface="Arial"/>
              <a:buChar char="•"/>
            </a:pPr>
            <a:r>
              <a:rPr lang="en-US" sz="2199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Javier Loaiza</a:t>
            </a:r>
          </a:p>
          <a:p>
            <a:pPr marL="474979" lvl="1" indent="-237490" algn="l">
              <a:lnSpc>
                <a:spcPts val="3511"/>
              </a:lnSpc>
              <a:buFont typeface="Arial"/>
              <a:buChar char="•"/>
            </a:pPr>
            <a:r>
              <a:rPr lang="en-US" sz="2199">
                <a:solidFill>
                  <a:srgbClr val="161613"/>
                </a:solidFill>
                <a:latin typeface="Inter"/>
                <a:ea typeface="Inter"/>
                <a:cs typeface="Inter"/>
                <a:sym typeface="Inter"/>
              </a:rPr>
              <a:t>Franco Manríquez</a:t>
            </a:r>
          </a:p>
          <a:p>
            <a:pPr algn="l">
              <a:lnSpc>
                <a:spcPts val="3511"/>
              </a:lnSpc>
            </a:pPr>
            <a:endParaRPr lang="en-US" sz="2199">
              <a:solidFill>
                <a:srgbClr val="16161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213127" y="5807728"/>
            <a:ext cx="4109254" cy="398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4"/>
              </a:lnSpc>
            </a:pPr>
            <a:r>
              <a:rPr lang="en-US" sz="2519">
                <a:solidFill>
                  <a:srgbClr val="161613"/>
                </a:solidFill>
                <a:latin typeface="DM Sans"/>
                <a:ea typeface="DM Sans"/>
                <a:cs typeface="DM Sans"/>
                <a:sym typeface="DM Sans"/>
              </a:rPr>
              <a:t>Entrenamiento y Nutrición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4919569" y="-5155786"/>
            <a:ext cx="26137772" cy="10930341"/>
          </a:xfrm>
          <a:custGeom>
            <a:avLst/>
            <a:gdLst/>
            <a:ahLst/>
            <a:cxnLst/>
            <a:rect l="l" t="t" r="r" b="b"/>
            <a:pathLst>
              <a:path w="26137772" h="10930341">
                <a:moveTo>
                  <a:pt x="0" y="0"/>
                </a:moveTo>
                <a:lnTo>
                  <a:pt x="26137772" y="0"/>
                </a:lnTo>
                <a:lnTo>
                  <a:pt x="26137772" y="10930341"/>
                </a:lnTo>
                <a:lnTo>
                  <a:pt x="0" y="10930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081123" y="361663"/>
            <a:ext cx="4125753" cy="1553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647"/>
              </a:lnSpc>
            </a:pPr>
            <a:r>
              <a:rPr lang="en-US" sz="11647" spc="-384">
                <a:solidFill>
                  <a:srgbClr val="403B32"/>
                </a:solidFill>
                <a:latin typeface="Open Sauce"/>
                <a:ea typeface="Open Sauce"/>
                <a:cs typeface="Open Sauce"/>
                <a:sym typeface="Open Sauce"/>
              </a:rPr>
              <a:t>Índi</a:t>
            </a:r>
            <a:r>
              <a:rPr lang="en-US" sz="11647" u="none" strike="noStrike" spc="-384">
                <a:solidFill>
                  <a:srgbClr val="403B32"/>
                </a:solidFill>
                <a:latin typeface="Open Sauce"/>
                <a:ea typeface="Open Sauce"/>
                <a:cs typeface="Open Sauce"/>
                <a:sym typeface="Open Sauce"/>
              </a:rPr>
              <a:t>ce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5474958" y="3574838"/>
            <a:ext cx="7059639" cy="0"/>
          </a:xfrm>
          <a:prstGeom prst="line">
            <a:avLst/>
          </a:prstGeom>
          <a:ln w="9525" cap="flat">
            <a:solidFill>
              <a:srgbClr val="27322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V="1">
            <a:off x="5474958" y="4435646"/>
            <a:ext cx="7059639" cy="0"/>
          </a:xfrm>
          <a:prstGeom prst="line">
            <a:avLst/>
          </a:prstGeom>
          <a:ln w="9525" cap="flat">
            <a:solidFill>
              <a:srgbClr val="27322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flipV="1">
            <a:off x="5474958" y="5296455"/>
            <a:ext cx="7059639" cy="0"/>
          </a:xfrm>
          <a:prstGeom prst="line">
            <a:avLst/>
          </a:prstGeom>
          <a:ln w="9525" cap="flat">
            <a:solidFill>
              <a:srgbClr val="27322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5474958" y="6157263"/>
            <a:ext cx="7059639" cy="0"/>
          </a:xfrm>
          <a:prstGeom prst="line">
            <a:avLst/>
          </a:prstGeom>
          <a:ln w="9525" cap="flat">
            <a:solidFill>
              <a:srgbClr val="27322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5474958" y="6936580"/>
            <a:ext cx="7059639" cy="0"/>
          </a:xfrm>
          <a:prstGeom prst="line">
            <a:avLst/>
          </a:prstGeom>
          <a:ln w="9525" cap="flat">
            <a:solidFill>
              <a:srgbClr val="27322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7136508" y="2949734"/>
            <a:ext cx="5398088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2835"/>
              </a:lnSpc>
              <a:spcBef>
                <a:spcPct val="0"/>
              </a:spcBef>
            </a:pPr>
            <a:r>
              <a:rPr lang="en-US" sz="210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INTRODUCCION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94631" y="2949734"/>
            <a:ext cx="1808922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835"/>
              </a:lnSpc>
              <a:spcBef>
                <a:spcPct val="0"/>
              </a:spcBef>
            </a:pPr>
            <a:r>
              <a:rPr lang="en-US" sz="210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03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260897" y="3811322"/>
            <a:ext cx="5273699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2835"/>
              </a:lnSpc>
              <a:spcBef>
                <a:spcPct val="0"/>
              </a:spcBef>
            </a:pPr>
            <a:r>
              <a:rPr lang="en-US" sz="210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MONITOREO DEL PLAN DE TRABAJO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94631" y="3811322"/>
            <a:ext cx="1808922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835"/>
              </a:lnSpc>
              <a:spcBef>
                <a:spcPct val="0"/>
              </a:spcBef>
            </a:pPr>
            <a:r>
              <a:rPr lang="en-US" sz="210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04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81123" y="4672911"/>
            <a:ext cx="5453473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2835"/>
              </a:lnSpc>
              <a:spcBef>
                <a:spcPct val="0"/>
              </a:spcBef>
            </a:pPr>
            <a:r>
              <a:rPr lang="en-US" sz="210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AVANCE DISPONIBLE Y DIFICULTADES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94631" y="4672911"/>
            <a:ext cx="1808922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835"/>
              </a:lnSpc>
              <a:spcBef>
                <a:spcPct val="0"/>
              </a:spcBef>
            </a:pPr>
            <a:r>
              <a:rPr lang="en-US" sz="210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05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60897" y="5528256"/>
            <a:ext cx="5273699" cy="702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2835"/>
              </a:lnSpc>
              <a:spcBef>
                <a:spcPct val="0"/>
              </a:spcBef>
            </a:pPr>
            <a:r>
              <a:rPr lang="en-US" sz="210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CÓMO LO IMPLEMENTAREMOS</a:t>
            </a:r>
          </a:p>
          <a:p>
            <a:pPr algn="r">
              <a:lnSpc>
                <a:spcPts val="2835"/>
              </a:lnSpc>
              <a:spcBef>
                <a:spcPct val="0"/>
              </a:spcBef>
            </a:pPr>
            <a:endParaRPr lang="en-US" sz="2100">
              <a:solidFill>
                <a:srgbClr val="27322E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668318" y="5528256"/>
            <a:ext cx="1752355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835"/>
              </a:lnSpc>
              <a:spcBef>
                <a:spcPct val="0"/>
              </a:spcBef>
            </a:pPr>
            <a:r>
              <a:rPr lang="en-US" sz="210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06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39947" y="6389845"/>
            <a:ext cx="449465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2835"/>
              </a:lnSpc>
              <a:spcBef>
                <a:spcPct val="0"/>
              </a:spcBef>
            </a:pPr>
            <a:r>
              <a:rPr lang="en-US" sz="210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MOCKUP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68318" y="6389845"/>
            <a:ext cx="1752355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835"/>
              </a:lnSpc>
              <a:spcBef>
                <a:spcPct val="0"/>
              </a:spcBef>
            </a:pPr>
            <a:r>
              <a:rPr lang="en-US" sz="210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05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807160" y="7227092"/>
            <a:ext cx="4727437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2835"/>
              </a:lnSpc>
              <a:spcBef>
                <a:spcPct val="0"/>
              </a:spcBef>
            </a:pPr>
            <a:r>
              <a:rPr lang="en-US" sz="210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CONCLUSIÓN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68318" y="7227092"/>
            <a:ext cx="1752355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835"/>
              </a:lnSpc>
              <a:spcBef>
                <a:spcPct val="0"/>
              </a:spcBef>
            </a:pPr>
            <a:r>
              <a:rPr lang="en-US" sz="2100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06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69727" y="1783773"/>
            <a:ext cx="7948546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 spc="-125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Hablaremos de los siguientes temas de nuestra presentación</a:t>
            </a:r>
          </a:p>
        </p:txBody>
      </p:sp>
      <p:sp>
        <p:nvSpPr>
          <p:cNvPr id="22" name="AutoShape 22"/>
          <p:cNvSpPr/>
          <p:nvPr/>
        </p:nvSpPr>
        <p:spPr>
          <a:xfrm>
            <a:off x="5474958" y="7849075"/>
            <a:ext cx="7059639" cy="0"/>
          </a:xfrm>
          <a:prstGeom prst="line">
            <a:avLst/>
          </a:prstGeom>
          <a:ln w="9525" cap="flat">
            <a:solidFill>
              <a:srgbClr val="27322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>
            <a:off x="2505437" y="2451323"/>
            <a:ext cx="13277126" cy="0"/>
          </a:xfrm>
          <a:prstGeom prst="line">
            <a:avLst/>
          </a:prstGeom>
          <a:ln w="9525" cap="flat">
            <a:solidFill>
              <a:srgbClr val="27322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Freeform 24"/>
          <p:cNvSpPr/>
          <p:nvPr/>
        </p:nvSpPr>
        <p:spPr>
          <a:xfrm>
            <a:off x="487528" y="499771"/>
            <a:ext cx="3427226" cy="842526"/>
          </a:xfrm>
          <a:custGeom>
            <a:avLst/>
            <a:gdLst/>
            <a:ahLst/>
            <a:cxnLst/>
            <a:rect l="l" t="t" r="r" b="b"/>
            <a:pathLst>
              <a:path w="3427226" h="842526">
                <a:moveTo>
                  <a:pt x="0" y="0"/>
                </a:moveTo>
                <a:lnTo>
                  <a:pt x="3427226" y="0"/>
                </a:lnTo>
                <a:lnTo>
                  <a:pt x="3427226" y="842527"/>
                </a:lnTo>
                <a:lnTo>
                  <a:pt x="0" y="8425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6636653" y="-5465171"/>
            <a:ext cx="26137772" cy="10930341"/>
          </a:xfrm>
          <a:custGeom>
            <a:avLst/>
            <a:gdLst/>
            <a:ahLst/>
            <a:cxnLst/>
            <a:rect l="l" t="t" r="r" b="b"/>
            <a:pathLst>
              <a:path w="26137772" h="10930341">
                <a:moveTo>
                  <a:pt x="0" y="0"/>
                </a:moveTo>
                <a:lnTo>
                  <a:pt x="26137773" y="0"/>
                </a:lnTo>
                <a:lnTo>
                  <a:pt x="26137773" y="10930342"/>
                </a:lnTo>
                <a:lnTo>
                  <a:pt x="0" y="10930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803823" y="3442108"/>
            <a:ext cx="8340177" cy="0"/>
          </a:xfrm>
          <a:prstGeom prst="line">
            <a:avLst/>
          </a:prstGeom>
          <a:ln w="9525" cap="flat">
            <a:solidFill>
              <a:srgbClr val="27322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1787671" y="1265574"/>
            <a:ext cx="4866804" cy="6806719"/>
          </a:xfrm>
          <a:custGeom>
            <a:avLst/>
            <a:gdLst/>
            <a:ahLst/>
            <a:cxnLst/>
            <a:rect l="l" t="t" r="r" b="b"/>
            <a:pathLst>
              <a:path w="4866804" h="6806719">
                <a:moveTo>
                  <a:pt x="0" y="0"/>
                </a:moveTo>
                <a:lnTo>
                  <a:pt x="4866804" y="0"/>
                </a:lnTo>
                <a:lnTo>
                  <a:pt x="4866804" y="6806719"/>
                </a:lnTo>
                <a:lnTo>
                  <a:pt x="0" y="68067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03823" y="2756081"/>
            <a:ext cx="9541876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spc="-159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¿Para recapitular, de que trata nuestro proyecto?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2904" y="3836885"/>
            <a:ext cx="9108738" cy="2715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 spc="-125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Nuestro proyecto busca abordar la dificultad que presentan algunas personas para mantener un seguimiento constante de su entrenamiento y alimentación de acuerdo con sus objetivos físicos.</a:t>
            </a:r>
          </a:p>
          <a:p>
            <a:pPr algn="just">
              <a:lnSpc>
                <a:spcPts val="3079"/>
              </a:lnSpc>
            </a:pPr>
            <a:endParaRPr lang="en-US" sz="2199" spc="-125">
              <a:solidFill>
                <a:srgbClr val="27322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3079"/>
              </a:lnSpc>
            </a:pPr>
            <a:endParaRPr lang="en-US" sz="2199" spc="-125">
              <a:solidFill>
                <a:srgbClr val="27322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3079"/>
              </a:lnSpc>
            </a:pPr>
            <a:endParaRPr lang="en-US" sz="2199" spc="-125">
              <a:solidFill>
                <a:srgbClr val="27322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3079"/>
              </a:lnSpc>
            </a:pPr>
            <a:endParaRPr lang="en-US" sz="2199" spc="-125">
              <a:solidFill>
                <a:srgbClr val="27322E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42904" y="1275099"/>
            <a:ext cx="7917277" cy="1357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34"/>
              </a:lnSpc>
            </a:pPr>
            <a:r>
              <a:rPr lang="en-US" sz="10234" spc="-337">
                <a:solidFill>
                  <a:srgbClr val="403B32"/>
                </a:solidFill>
                <a:latin typeface="Open Sauce"/>
                <a:ea typeface="Open Sauce"/>
                <a:cs typeface="Open Sauce"/>
                <a:sym typeface="Open Sauce"/>
              </a:rPr>
              <a:t>Introducción</a:t>
            </a:r>
          </a:p>
        </p:txBody>
      </p:sp>
      <p:sp>
        <p:nvSpPr>
          <p:cNvPr id="8" name="Freeform 8"/>
          <p:cNvSpPr/>
          <p:nvPr/>
        </p:nvSpPr>
        <p:spPr>
          <a:xfrm>
            <a:off x="14221073" y="8837037"/>
            <a:ext cx="3427226" cy="842526"/>
          </a:xfrm>
          <a:custGeom>
            <a:avLst/>
            <a:gdLst/>
            <a:ahLst/>
            <a:cxnLst/>
            <a:rect l="l" t="t" r="r" b="b"/>
            <a:pathLst>
              <a:path w="3427226" h="842526">
                <a:moveTo>
                  <a:pt x="0" y="0"/>
                </a:moveTo>
                <a:lnTo>
                  <a:pt x="3427226" y="0"/>
                </a:lnTo>
                <a:lnTo>
                  <a:pt x="3427226" y="842526"/>
                </a:lnTo>
                <a:lnTo>
                  <a:pt x="0" y="8425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03823" y="5309261"/>
            <a:ext cx="6033698" cy="4769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spc="-142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¿</a:t>
            </a:r>
            <a:r>
              <a:rPr lang="en-US" sz="2499" u="sng" spc="-142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Que resuelve?</a:t>
            </a:r>
          </a:p>
          <a:p>
            <a:pPr algn="just">
              <a:lnSpc>
                <a:spcPts val="3499"/>
              </a:lnSpc>
            </a:pPr>
            <a:endParaRPr lang="en-US" sz="2499" u="sng" spc="-142">
              <a:solidFill>
                <a:srgbClr val="27322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3079"/>
              </a:lnSpc>
            </a:pPr>
            <a:r>
              <a:rPr lang="en-US" sz="2199" b="1" spc="-125">
                <a:solidFill>
                  <a:srgbClr val="27322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Entrenamiento: </a:t>
            </a:r>
            <a:r>
              <a:rPr lang="en-US" sz="2199" spc="-125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 Rutinas propias y registro de</a:t>
            </a:r>
          </a:p>
          <a:p>
            <a:pPr algn="just">
              <a:lnSpc>
                <a:spcPts val="3079"/>
              </a:lnSpc>
            </a:pPr>
            <a:r>
              <a:rPr lang="en-US" sz="2199" spc="-125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cargas, repeticiones y peso corporal.</a:t>
            </a:r>
          </a:p>
          <a:p>
            <a:pPr algn="just">
              <a:lnSpc>
                <a:spcPts val="3079"/>
              </a:lnSpc>
            </a:pPr>
            <a:endParaRPr lang="en-US" sz="2199" spc="-125">
              <a:solidFill>
                <a:srgbClr val="27322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3079"/>
              </a:lnSpc>
            </a:pPr>
            <a:endParaRPr lang="en-US" sz="2199" spc="-125">
              <a:solidFill>
                <a:srgbClr val="27322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3079"/>
              </a:lnSpc>
            </a:pPr>
            <a:r>
              <a:rPr lang="en-US" sz="2199" b="1" spc="-125">
                <a:solidFill>
                  <a:srgbClr val="27322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Alimentación: </a:t>
            </a:r>
            <a:r>
              <a:rPr lang="en-US" sz="2199" spc="-125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Registro de alimentos, calorías</a:t>
            </a:r>
          </a:p>
          <a:p>
            <a:pPr algn="just">
              <a:lnSpc>
                <a:spcPts val="3079"/>
              </a:lnSpc>
            </a:pPr>
            <a:r>
              <a:rPr lang="en-US" sz="2199" spc="-125">
                <a:solidFill>
                  <a:srgbClr val="27322E"/>
                </a:solidFill>
                <a:latin typeface="Open Sauce"/>
                <a:ea typeface="Open Sauce"/>
                <a:cs typeface="Open Sauce"/>
                <a:sym typeface="Open Sauce"/>
              </a:rPr>
              <a:t>y macronutrientes.</a:t>
            </a:r>
          </a:p>
          <a:p>
            <a:pPr algn="just">
              <a:lnSpc>
                <a:spcPts val="3079"/>
              </a:lnSpc>
            </a:pPr>
            <a:endParaRPr lang="en-US" sz="2199" spc="-125">
              <a:solidFill>
                <a:srgbClr val="27322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3079"/>
              </a:lnSpc>
            </a:pPr>
            <a:endParaRPr lang="en-US" sz="2199" spc="-125">
              <a:solidFill>
                <a:srgbClr val="27322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3079"/>
              </a:lnSpc>
            </a:pPr>
            <a:endParaRPr lang="en-US" sz="2199" spc="-125">
              <a:solidFill>
                <a:srgbClr val="27322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3079"/>
              </a:lnSpc>
            </a:pPr>
            <a:endParaRPr lang="en-US" sz="2199" spc="-125">
              <a:solidFill>
                <a:srgbClr val="27322E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6636653" y="-5465171"/>
            <a:ext cx="26137772" cy="10930341"/>
          </a:xfrm>
          <a:custGeom>
            <a:avLst/>
            <a:gdLst/>
            <a:ahLst/>
            <a:cxnLst/>
            <a:rect l="l" t="t" r="r" b="b"/>
            <a:pathLst>
              <a:path w="26137772" h="10930341">
                <a:moveTo>
                  <a:pt x="0" y="0"/>
                </a:moveTo>
                <a:lnTo>
                  <a:pt x="26137773" y="0"/>
                </a:lnTo>
                <a:lnTo>
                  <a:pt x="26137773" y="10930342"/>
                </a:lnTo>
                <a:lnTo>
                  <a:pt x="0" y="109303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 rot="3600">
            <a:off x="905827" y="7167562"/>
            <a:ext cx="16476355" cy="0"/>
          </a:xfrm>
          <a:prstGeom prst="line">
            <a:avLst/>
          </a:prstGeom>
          <a:ln w="9525" cap="rnd">
            <a:solidFill>
              <a:srgbClr val="CBDAD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3252476" y="8470886"/>
            <a:ext cx="2662242" cy="1371055"/>
          </a:xfrm>
          <a:custGeom>
            <a:avLst/>
            <a:gdLst/>
            <a:ahLst/>
            <a:cxnLst/>
            <a:rect l="l" t="t" r="r" b="b"/>
            <a:pathLst>
              <a:path w="2662242" h="1371055">
                <a:moveTo>
                  <a:pt x="0" y="0"/>
                </a:moveTo>
                <a:lnTo>
                  <a:pt x="2662243" y="0"/>
                </a:lnTo>
                <a:lnTo>
                  <a:pt x="2662243" y="1371055"/>
                </a:lnTo>
                <a:lnTo>
                  <a:pt x="0" y="13710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14400" y="657225"/>
            <a:ext cx="16459200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1">
                <a:solidFill>
                  <a:srgbClr val="153B45"/>
                </a:solidFill>
                <a:latin typeface="Arimo Bold"/>
                <a:ea typeface="Arimo Bold"/>
                <a:cs typeface="Arimo Bold"/>
                <a:sym typeface="Arimo Bold"/>
              </a:rPr>
              <a:t>Dificultades y facilitadores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744950" y="9482138"/>
            <a:ext cx="62865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00"/>
              </a:lnSpc>
            </a:pPr>
            <a:r>
              <a:rPr lang="en-US" sz="2250">
                <a:solidFill>
                  <a:srgbClr val="506A73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2238375"/>
            <a:ext cx="714375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5"/>
              </a:lnSpc>
            </a:pPr>
            <a:r>
              <a:rPr lang="en-US" sz="3487" b="1">
                <a:solidFill>
                  <a:srgbClr val="008C9D"/>
                </a:solidFill>
                <a:latin typeface="Arimo Bold"/>
                <a:ea typeface="Arimo Bold"/>
                <a:cs typeface="Arimo Bold"/>
                <a:sym typeface="Arimo Bold"/>
              </a:rPr>
              <a:t>Facilitadores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3095625"/>
            <a:ext cx="7343775" cy="321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153B45"/>
                </a:solidFill>
                <a:latin typeface="Arimo"/>
                <a:ea typeface="Arimo"/>
                <a:cs typeface="Arimo"/>
                <a:sym typeface="Arimo"/>
              </a:rPr>
              <a:t>Trabajo dividido entre ambos.</a:t>
            </a:r>
          </a:p>
          <a:p>
            <a:pPr algn="l">
              <a:lnSpc>
                <a:spcPts val="3240"/>
              </a:lnSpc>
            </a:pPr>
            <a:endParaRPr lang="en-US" sz="3150">
              <a:solidFill>
                <a:srgbClr val="153B45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153B45"/>
                </a:solidFill>
                <a:latin typeface="Arimo"/>
                <a:ea typeface="Arimo"/>
                <a:cs typeface="Arimo"/>
                <a:sym typeface="Arimo"/>
              </a:rPr>
              <a:t>Plan de trabajo y repositorio de actividades.</a:t>
            </a:r>
          </a:p>
          <a:p>
            <a:pPr algn="l">
              <a:lnSpc>
                <a:spcPts val="3240"/>
              </a:lnSpc>
            </a:pPr>
            <a:endParaRPr lang="en-US" sz="3150">
              <a:solidFill>
                <a:srgbClr val="153B45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153B45"/>
                </a:solidFill>
                <a:latin typeface="Arimo"/>
                <a:ea typeface="Arimo"/>
                <a:cs typeface="Arimo"/>
                <a:sym typeface="Arimo"/>
              </a:rPr>
              <a:t>Documentación y Figma para definir la solución.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01175" y="2238375"/>
            <a:ext cx="7972425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5"/>
              </a:lnSpc>
            </a:pPr>
            <a:r>
              <a:rPr lang="en-US" sz="3487" b="1">
                <a:solidFill>
                  <a:srgbClr val="008C9D"/>
                </a:solidFill>
                <a:latin typeface="Arimo Bold"/>
                <a:ea typeface="Arimo Bold"/>
                <a:cs typeface="Arimo Bold"/>
                <a:sym typeface="Arimo Bold"/>
              </a:rPr>
              <a:t>Dificultad principal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97465" y="3191915"/>
            <a:ext cx="7972425" cy="185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153B45"/>
                </a:solidFill>
                <a:latin typeface="Arimo"/>
                <a:ea typeface="Arimo"/>
                <a:cs typeface="Arimo"/>
                <a:sym typeface="Arimo"/>
              </a:rPr>
              <a:t>Nos concentramos en el ERS y los mockups.</a:t>
            </a:r>
          </a:p>
          <a:p>
            <a:pPr algn="l">
              <a:lnSpc>
                <a:spcPts val="3240"/>
              </a:lnSpc>
            </a:pPr>
            <a:endParaRPr lang="en-US" sz="3150">
              <a:solidFill>
                <a:srgbClr val="153B45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153B45"/>
                </a:solidFill>
                <a:latin typeface="Arimo"/>
                <a:ea typeface="Arimo"/>
                <a:cs typeface="Arimo"/>
                <a:sym typeface="Arimo"/>
              </a:rPr>
              <a:t>Retraso de los tiempos de Carta Gantt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" y="7543800"/>
            <a:ext cx="3714750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3262" b="1">
                <a:solidFill>
                  <a:srgbClr val="008C9D"/>
                </a:solidFill>
                <a:latin typeface="Arimo Bold"/>
                <a:ea typeface="Arimo Bold"/>
                <a:cs typeface="Arimo Bold"/>
                <a:sym typeface="Arimo Bold"/>
              </a:rPr>
              <a:t>Próximo paso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00625" y="7567612"/>
            <a:ext cx="12372975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037">
                <a:solidFill>
                  <a:srgbClr val="153B45"/>
                </a:solidFill>
                <a:latin typeface="Arimo"/>
                <a:ea typeface="Arimo"/>
                <a:cs typeface="Arimo"/>
                <a:sym typeface="Arimo"/>
              </a:rPr>
              <a:t>Completar el entorno y el repositorio de código; comenzar backend y navegación en paralelo.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" y="9053512"/>
            <a:ext cx="15430500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812">
                <a:solidFill>
                  <a:srgbClr val="506A73"/>
                </a:solidFill>
                <a:latin typeface="Arimo"/>
                <a:ea typeface="Arimo"/>
                <a:cs typeface="Arimo"/>
                <a:sym typeface="Arimo"/>
              </a:rPr>
              <a:t>Sin ajustes a la propuesta, los objetivos ni la metodología.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6636653" y="-5465171"/>
            <a:ext cx="26137772" cy="10930341"/>
          </a:xfrm>
          <a:custGeom>
            <a:avLst/>
            <a:gdLst/>
            <a:ahLst/>
            <a:cxnLst/>
            <a:rect l="l" t="t" r="r" b="b"/>
            <a:pathLst>
              <a:path w="26137772" h="10930341">
                <a:moveTo>
                  <a:pt x="0" y="0"/>
                </a:moveTo>
                <a:lnTo>
                  <a:pt x="26137773" y="0"/>
                </a:lnTo>
                <a:lnTo>
                  <a:pt x="26137773" y="10930342"/>
                </a:lnTo>
                <a:lnTo>
                  <a:pt x="0" y="109303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377429"/>
              </p:ext>
            </p:extLst>
          </p:nvPr>
        </p:nvGraphicFramePr>
        <p:xfrm>
          <a:off x="914400" y="2386012"/>
          <a:ext cx="16203646" cy="6731000"/>
        </p:xfrm>
        <a:graphic>
          <a:graphicData uri="http://schemas.openxmlformats.org/drawingml/2006/table">
            <a:tbl>
              <a:tblPr/>
              <a:tblGrid>
                <a:gridCol w="10334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9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97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Actividad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Semanas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B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Estado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153B4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Definición, requerimientos y alcance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153B4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1–5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08716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Completado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153B4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Configuración inicial y planificación técnica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153B4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4–5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08716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Completado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153B4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Diseño de flujos y prototipos de interfaz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153B4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6–7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08716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Completado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153B4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Arquitectura y modelo de datos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153B4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6–7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087166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Completado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153B4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Ajustes finales del entorno y repositorio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153B4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7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1">
                          <a:solidFill>
                            <a:srgbClr val="93580A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Con retraso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153B4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Backend, base de datos y autenticación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153B4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8–10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506A7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 iniciado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153B4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Navegación, interfaces y perfil de usuario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153B4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8–10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506A7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 iniciado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153B4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Módulo de entrenamiento y progreso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153B4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9–12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506A7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 iniciado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153B4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Recomendaciones y controles de seguridad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153B4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8–13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dirty="0">
                          <a:solidFill>
                            <a:srgbClr val="506A7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 </a:t>
                      </a:r>
                      <a:r>
                        <a:rPr lang="en-US" sz="2700" dirty="0" err="1">
                          <a:solidFill>
                            <a:srgbClr val="506A73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iniciado</a:t>
                      </a:r>
                      <a:endParaRPr lang="en-US" sz="1100" dirty="0"/>
                    </a:p>
                  </a:txBody>
                  <a:tcPr marL="133350" marR="133350" marT="133350" marB="1333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>
            <a:off x="14337291" y="82412"/>
            <a:ext cx="1991785" cy="2064026"/>
          </a:xfrm>
          <a:custGeom>
            <a:avLst/>
            <a:gdLst/>
            <a:ahLst/>
            <a:cxnLst/>
            <a:rect l="l" t="t" r="r" b="b"/>
            <a:pathLst>
              <a:path w="1991785" h="2064026">
                <a:moveTo>
                  <a:pt x="0" y="0"/>
                </a:moveTo>
                <a:lnTo>
                  <a:pt x="1991785" y="0"/>
                </a:lnTo>
                <a:lnTo>
                  <a:pt x="1991785" y="2064026"/>
                </a:lnTo>
                <a:lnTo>
                  <a:pt x="0" y="20640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14400" y="657225"/>
            <a:ext cx="16459200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1">
                <a:solidFill>
                  <a:srgbClr val="153B45"/>
                </a:solidFill>
                <a:latin typeface="Arimo Bold"/>
                <a:ea typeface="Arimo Bold"/>
                <a:cs typeface="Arimo Bold"/>
                <a:sym typeface="Arimo Bold"/>
              </a:rPr>
              <a:t>Monitoreo del plan hasta la semana 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744950" y="9482138"/>
            <a:ext cx="62865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00"/>
              </a:lnSpc>
            </a:pPr>
            <a:r>
              <a:rPr lang="en-US" sz="2250">
                <a:solidFill>
                  <a:srgbClr val="506A73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1595438"/>
            <a:ext cx="15716250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506A73"/>
                </a:solidFill>
                <a:latin typeface="Arimo"/>
                <a:ea typeface="Arimo"/>
                <a:cs typeface="Arimo"/>
                <a:sym typeface="Arimo"/>
              </a:rPr>
              <a:t>Actividades con inicio previsto hasta la semana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9322" y="2628900"/>
            <a:ext cx="3110646" cy="6743700"/>
            <a:chOff x="0" y="0"/>
            <a:chExt cx="4147528" cy="8991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47566" cy="8991600"/>
            </a:xfrm>
            <a:custGeom>
              <a:avLst/>
              <a:gdLst/>
              <a:ahLst/>
              <a:cxnLst/>
              <a:rect l="l" t="t" r="r" b="b"/>
              <a:pathLst>
                <a:path w="4147566" h="8991600">
                  <a:moveTo>
                    <a:pt x="0" y="0"/>
                  </a:moveTo>
                  <a:lnTo>
                    <a:pt x="4147566" y="0"/>
                  </a:lnTo>
                  <a:lnTo>
                    <a:pt x="4147566" y="8991600"/>
                  </a:lnTo>
                  <a:lnTo>
                    <a:pt x="0" y="899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5216947" y="2628900"/>
            <a:ext cx="3110646" cy="6743700"/>
            <a:chOff x="0" y="0"/>
            <a:chExt cx="4147528" cy="8991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147566" cy="8991600"/>
            </a:xfrm>
            <a:custGeom>
              <a:avLst/>
              <a:gdLst/>
              <a:ahLst/>
              <a:cxnLst/>
              <a:rect l="l" t="t" r="r" b="b"/>
              <a:pathLst>
                <a:path w="4147566" h="8991600">
                  <a:moveTo>
                    <a:pt x="0" y="0"/>
                  </a:moveTo>
                  <a:lnTo>
                    <a:pt x="4147566" y="0"/>
                  </a:lnTo>
                  <a:lnTo>
                    <a:pt x="4147566" y="8991600"/>
                  </a:lnTo>
                  <a:lnTo>
                    <a:pt x="0" y="899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15580068" y="131930"/>
            <a:ext cx="1679232" cy="2822239"/>
          </a:xfrm>
          <a:custGeom>
            <a:avLst/>
            <a:gdLst/>
            <a:ahLst/>
            <a:cxnLst/>
            <a:rect l="l" t="t" r="r" b="b"/>
            <a:pathLst>
              <a:path w="1679232" h="2822239">
                <a:moveTo>
                  <a:pt x="0" y="0"/>
                </a:moveTo>
                <a:lnTo>
                  <a:pt x="1679232" y="0"/>
                </a:lnTo>
                <a:lnTo>
                  <a:pt x="1679232" y="2822240"/>
                </a:lnTo>
                <a:lnTo>
                  <a:pt x="0" y="28222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14400" y="657225"/>
            <a:ext cx="16459200" cy="88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1">
                <a:solidFill>
                  <a:srgbClr val="153B45"/>
                </a:solidFill>
                <a:latin typeface="Arimo Bold"/>
                <a:ea typeface="Arimo Bold"/>
                <a:cs typeface="Arimo Bold"/>
                <a:sym typeface="Arimo Bold"/>
              </a:rPr>
              <a:t>Demo del prototipo en Figma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744950" y="9482138"/>
            <a:ext cx="62865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00"/>
              </a:lnSpc>
            </a:pPr>
            <a:r>
              <a:rPr lang="en-US" sz="2250">
                <a:solidFill>
                  <a:srgbClr val="506A73"/>
                </a:solidFill>
                <a:latin typeface="Arimo"/>
                <a:ea typeface="Arimo"/>
                <a:cs typeface="Arimo"/>
                <a:sym typeface="Arimo"/>
              </a:rPr>
              <a:t>05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1595438"/>
            <a:ext cx="16459200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506A73"/>
                </a:solidFill>
                <a:latin typeface="Arimo"/>
                <a:ea typeface="Arimo"/>
                <a:cs typeface="Arimo"/>
                <a:sym typeface="Arimo"/>
              </a:rPr>
              <a:t>Navegación y flujos diseñados; implementación pendiente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15475" y="2781300"/>
            <a:ext cx="7858125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5"/>
              </a:lnSpc>
            </a:pPr>
            <a:r>
              <a:rPr lang="en-US" sz="3487" b="1">
                <a:solidFill>
                  <a:srgbClr val="008C9D"/>
                </a:solidFill>
                <a:latin typeface="Arimo Bold"/>
                <a:ea typeface="Arimo Bold"/>
                <a:cs typeface="Arimo Bold"/>
                <a:sym typeface="Arimo Bold"/>
              </a:rPr>
              <a:t>Recorrido de la demo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20395" y="3570835"/>
            <a:ext cx="7858125" cy="3333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153B45"/>
                </a:solidFill>
                <a:latin typeface="Arimo"/>
                <a:ea typeface="Arimo"/>
                <a:cs typeface="Arimo"/>
                <a:sym typeface="Arimo"/>
              </a:rPr>
              <a:t>1. Ver y editar una rutina del día.</a:t>
            </a:r>
          </a:p>
          <a:p>
            <a:pPr algn="l">
              <a:lnSpc>
                <a:spcPts val="3240"/>
              </a:lnSpc>
            </a:pPr>
            <a:endParaRPr lang="en-US" sz="3150">
              <a:solidFill>
                <a:srgbClr val="153B45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153B45"/>
                </a:solidFill>
                <a:latin typeface="Arimo"/>
                <a:ea typeface="Arimo"/>
                <a:cs typeface="Arimo"/>
                <a:sym typeface="Arimo"/>
              </a:rPr>
              <a:t>2. Registrar entrenamiento.</a:t>
            </a:r>
          </a:p>
          <a:p>
            <a:pPr algn="l">
              <a:lnSpc>
                <a:spcPts val="3240"/>
              </a:lnSpc>
            </a:pPr>
            <a:endParaRPr lang="en-US" sz="3150">
              <a:solidFill>
                <a:srgbClr val="153B45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153B45"/>
                </a:solidFill>
                <a:latin typeface="Arimo"/>
                <a:ea typeface="Arimo"/>
                <a:cs typeface="Arimo"/>
                <a:sym typeface="Arimo"/>
              </a:rPr>
              <a:t>3. Recorrer nutrición y progreso.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15475" y="7724775"/>
            <a:ext cx="7858125" cy="661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375" b="1" u="sng">
                <a:solidFill>
                  <a:srgbClr val="467886"/>
                </a:solidFill>
                <a:latin typeface="Arimo Bold"/>
                <a:ea typeface="Arimo Bold"/>
                <a:cs typeface="Arimo Bold"/>
                <a:sym typeface="Arimo Bold"/>
                <a:hlinkClick r:id="rId7" tooltip="https://www.figma.com/design/k4bgudz3apnP9CwsDBgqMs/Capstone-Fitness-App-%E2%80%94-Mockup?node-id=16-2"/>
              </a:rPr>
              <a:t>Abrir en Figma 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6636653" y="-5524499"/>
            <a:ext cx="26137772" cy="10930341"/>
          </a:xfrm>
          <a:custGeom>
            <a:avLst/>
            <a:gdLst/>
            <a:ahLst/>
            <a:cxnLst/>
            <a:rect l="l" t="t" r="r" b="b"/>
            <a:pathLst>
              <a:path w="26137772" h="10930341">
                <a:moveTo>
                  <a:pt x="0" y="0"/>
                </a:moveTo>
                <a:lnTo>
                  <a:pt x="26137773" y="0"/>
                </a:lnTo>
                <a:lnTo>
                  <a:pt x="26137773" y="10930342"/>
                </a:lnTo>
                <a:lnTo>
                  <a:pt x="0" y="109303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583808" y="2306809"/>
            <a:ext cx="5303391" cy="11804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79"/>
              </a:lnSpc>
              <a:spcBef>
                <a:spcPct val="0"/>
              </a:spcBef>
            </a:pPr>
            <a:r>
              <a:rPr lang="en-US" sz="814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</a:p>
        </p:txBody>
      </p:sp>
      <p:sp>
        <p:nvSpPr>
          <p:cNvPr id="4" name="Freeform 4"/>
          <p:cNvSpPr/>
          <p:nvPr/>
        </p:nvSpPr>
        <p:spPr>
          <a:xfrm>
            <a:off x="7187177" y="4007547"/>
            <a:ext cx="3913645" cy="3913645"/>
          </a:xfrm>
          <a:custGeom>
            <a:avLst/>
            <a:gdLst/>
            <a:ahLst/>
            <a:cxnLst/>
            <a:rect l="l" t="t" r="r" b="b"/>
            <a:pathLst>
              <a:path w="3913645" h="3913645">
                <a:moveTo>
                  <a:pt x="0" y="0"/>
                </a:moveTo>
                <a:lnTo>
                  <a:pt x="3913646" y="0"/>
                </a:lnTo>
                <a:lnTo>
                  <a:pt x="3913646" y="3913645"/>
                </a:lnTo>
                <a:lnTo>
                  <a:pt x="0" y="39136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330</Words>
  <Application>Microsoft Office PowerPoint</Application>
  <PresentationFormat>Personalizado</PresentationFormat>
  <Paragraphs>100</Paragraphs>
  <Slides>7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8" baseType="lpstr">
      <vt:lpstr>Open Sauce</vt:lpstr>
      <vt:lpstr>Open Sauce Bold</vt:lpstr>
      <vt:lpstr>Inter</vt:lpstr>
      <vt:lpstr>Arimo</vt:lpstr>
      <vt:lpstr>Arimo Bold</vt:lpstr>
      <vt:lpstr>DM Sans</vt:lpstr>
      <vt:lpstr>Inter Bold</vt:lpstr>
      <vt:lpstr>Arial</vt:lpstr>
      <vt:lpstr>Rotis Sans Serif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Presentacion_2_Capstone_Final.pptx</dc:title>
  <cp:lastModifiedBy>Servicios Digitales</cp:lastModifiedBy>
  <cp:revision>2</cp:revision>
  <dcterms:created xsi:type="dcterms:W3CDTF">2006-08-16T00:00:00Z</dcterms:created>
  <dcterms:modified xsi:type="dcterms:W3CDTF">2026-10-09T22:14:17Z</dcterms:modified>
  <dc:identifier>DAHXg4k-fyU</dc:identifier>
</cp:coreProperties>
</file>